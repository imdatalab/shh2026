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81305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gen-dedup-88f1c0ebf88e68e42884bcdf19dcdd7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81305" y="0"/>
            <a:ext cx="114300" cy="6858000"/>
          </a:xfrm>
          <a:prstGeom prst="rect">
            <a:avLst/>
          </a:prstGeom>
        </p:spPr>
      </p:pic>
      <p:pic>
        <p:nvPicPr>
          <p:cNvPr id="6" name="Image 1" descr="gen-dedup-5e93656ff2e131aa0e9ff6c0bebadc00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952805" y="4858207"/>
            <a:ext cx="2857500" cy="384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52805" y="1143000"/>
            <a:ext cx="10287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고등학교 통합사회 1 / I. 인간, 사회, 환경과 행복 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952805" y="1714500"/>
            <a:ext cx="10287000" cy="1343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인간, 사회, 환경을 바라보는</a:t>
            </a:r>
            <a:pPr algn="l" indent="0" marL="0">
              <a:buNone/>
            </a:pP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관점과 통합적 이해 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952805" y="3619195"/>
            <a:ext cx="1028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사회 현상을 입체적으로 분석하는 네 가지 눈 : 시간적·공간적·사회적·윤리적 관점 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52805" y="4069080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교육부 국가성취기준 [10통사1-01-01 / 10통사1-01-02] 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952805" y="5143500"/>
            <a:ext cx="1028700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수업 진행: 고등학교 사회 교사 (30년 경력의 베테랑 교수설계) 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952805" y="5447995"/>
            <a:ext cx="10287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이 자료는 교사용 교과서 및 엠티처 지원 데이터를 완벽히 고증하여 분석한 학술적 수업 지도안입니다.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952805" y="6467551"/>
            <a:ext cx="102870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01 / 08 | I. 인간, 사회, 환경과 행복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1500" y="381305"/>
            <a:ext cx="11049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75" kern="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LEARNING MAP &amp; OBJECTIVE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647395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목표 및 사회 현상 분석의 핵심 지도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71500" y="1429207"/>
            <a:ext cx="4381805" cy="4381805"/>
          </a:xfrm>
          <a:prstGeom prst="roundRect">
            <a:avLst>
              <a:gd name="adj" fmla="val 726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0100" y="1981505"/>
            <a:ext cx="3924605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0100" y="1657807"/>
            <a:ext cx="3924605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오늘의 배움 목표 (SWBAT) 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00100" y="2152498"/>
            <a:ext cx="39246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[성취기준 10통사1-01-01]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0100" y="2391156"/>
            <a:ext cx="3924605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인간, 사회, 환경을 바라보는 </a:t>
            </a:r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시간적, 공간적, 사회적, 윤리적 관점</a:t>
            </a:r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의미와 특징을 사례와 함께 완벽히 구분하여 설명할 수 있다. 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00100" y="3353105"/>
            <a:ext cx="39246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[성취기준 10통사1-01-02]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" y="3590849"/>
            <a:ext cx="3924605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단일 관점의 한계를 이해하고, 현대 복잡한 사회 현상을 해결하기 위해 </a:t>
            </a:r>
            <a:pPr algn="l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통합적 관점</a:t>
            </a:r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왜 필요한지 설명할 수 있다. 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0100" y="4647895"/>
            <a:ext cx="3924605" cy="838505"/>
          </a:xfrm>
          <a:prstGeom prst="roundRect">
            <a:avLst>
              <a:gd name="adj" fmla="val 14871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00100" y="4647895"/>
            <a:ext cx="38405" cy="838505"/>
          </a:xfrm>
          <a:prstGeom prst="roundRect">
            <a:avLst>
              <a:gd name="adj" fmla="val 324674"/>
            </a:avLst>
          </a:prstGeom>
          <a:solidFill>
            <a:srgbClr val="1E3A8A"/>
          </a:solidFill>
          <a:ln w="12700">
            <a:solidFill>
              <a:srgbClr val="1E3A8A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2805" y="4762195"/>
            <a:ext cx="3657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코칭 포인트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52805" y="4990795"/>
            <a:ext cx="36576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관점의 유기적 매핑을 통해 복잡한 사회 문제를 입체적으로 파악하는 지적 체계를 완성합니다.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238598" y="1429207"/>
            <a:ext cx="63825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현상 분석의 4대 핵심 축 매핑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238598" y="1790395"/>
            <a:ext cx="3114446" cy="1828800"/>
          </a:xfrm>
          <a:prstGeom prst="roundRect">
            <a:avLst>
              <a:gd name="adj" fmla="val 416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38851" y="2314346"/>
            <a:ext cx="27148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시간적 관점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38851" y="2648102"/>
            <a:ext cx="27148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시간의 흐름에 따라 변화하는 역사적 배경과 맥락 속에서 현상 추적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38851" y="3238805"/>
            <a:ext cx="27148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시계 🕰️ (과거·현재·미래)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505749" y="1790395"/>
            <a:ext cx="3114446" cy="1828800"/>
          </a:xfrm>
          <a:prstGeom prst="roundRect">
            <a:avLst>
              <a:gd name="adj" fmla="val 416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706002" y="2314346"/>
            <a:ext cx="27148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65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공간적 관점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706002" y="2648102"/>
            <a:ext cx="27148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위치, 장소, 분포 양상, 네트워크 등 인간과 공간의 상호작용 이해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706002" y="3238805"/>
            <a:ext cx="27148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나침반 🧭 (장소와 상호작용)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238598" y="3771900"/>
            <a:ext cx="3114446" cy="1828800"/>
          </a:xfrm>
          <a:prstGeom prst="roundRect">
            <a:avLst>
              <a:gd name="adj" fmla="val 416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38851" y="4295851"/>
            <a:ext cx="27148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 관점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438851" y="4629607"/>
            <a:ext cx="27148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사회의 구조, 제도, 정책 및 법적 시스템 등 구조적 배경과 한계 분석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5438851" y="5219395"/>
            <a:ext cx="27148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천칭 ⚖️ (제도와 대책)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505749" y="3771900"/>
            <a:ext cx="3114446" cy="1828800"/>
          </a:xfrm>
          <a:prstGeom prst="roundRect">
            <a:avLst>
              <a:gd name="adj" fmla="val 4167"/>
            </a:avLst>
          </a:prstGeom>
          <a:solidFill>
            <a:srgbClr val="FDF2F8"/>
          </a:solidFill>
          <a:ln w="12700">
            <a:solidFill>
              <a:srgbClr val="FBCF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706002" y="4295851"/>
            <a:ext cx="27148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D17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윤리적 관점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706002" y="4629607"/>
            <a:ext cx="27148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도덕적 규범, 가치 판단, 바람직한 삶의 방향과 인간 존엄성 평가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706002" y="5219395"/>
            <a:ext cx="27148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B2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이정표 📍 (가치와 기준)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38851" y="2000707"/>
            <a:ext cx="638251" cy="237744"/>
          </a:xfrm>
          <a:prstGeom prst="roundRect">
            <a:avLst>
              <a:gd name="adj" fmla="val 123077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38851" y="2000707"/>
            <a:ext cx="638251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TIME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8706002" y="2000707"/>
            <a:ext cx="724205" cy="237744"/>
          </a:xfrm>
          <a:prstGeom prst="roundRect">
            <a:avLst>
              <a:gd name="adj" fmla="val 123077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706002" y="2000707"/>
            <a:ext cx="7242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SPACE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38851" y="3981298"/>
            <a:ext cx="838505" cy="237744"/>
          </a:xfrm>
          <a:prstGeom prst="roundRect">
            <a:avLst>
              <a:gd name="adj" fmla="val 123077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38851" y="3981298"/>
            <a:ext cx="838505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SOCIETY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706002" y="3981298"/>
            <a:ext cx="771754" cy="237744"/>
          </a:xfrm>
          <a:prstGeom prst="roundRect">
            <a:avLst>
              <a:gd name="adj" fmla="val 123077"/>
            </a:avLst>
          </a:prstGeom>
          <a:solidFill>
            <a:srgbClr val="EC48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706002" y="3981298"/>
            <a:ext cx="771754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 ETHICS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71500" y="6467551"/>
            <a:ext cx="11049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02 / 08 | I. 인간, 사회, 환경과 행복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1500" y="381305"/>
            <a:ext cx="11049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75" kern="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TEMPORAL PERSPECTIVE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647395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시간적 관점 : 과거와 현재를 연결하는 역사적 안목</a:t>
            </a:r>
            <a:endParaRPr lang="en-US" sz="2400" dirty="0"/>
          </a:p>
        </p:txBody>
      </p:sp>
      <p:pic>
        <p:nvPicPr>
          <p:cNvPr id="6" name="Image 0" descr="gen-dedup-1268d128b164f3b1f5339c4827511671.png">    </p:cNvPr>
          <p:cNvPicPr>
            <a:picLocks noChangeAspect="1"/>
          </p:cNvPicPr>
          <p:nvPr/>
        </p:nvPicPr>
        <p:blipFill>
          <a:blip r:embed="rId1"/>
          <a:srcRect l="0" r="0" t="-5" b="-5"/>
          <a:stretch/>
        </p:blipFill>
        <p:spPr>
          <a:xfrm>
            <a:off x="571500" y="1429207"/>
            <a:ext cx="5238598" cy="43818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57707" y="1657807"/>
            <a:ext cx="47247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시계(Clock)의 도구적 관점 🕰️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57707" y="2104949"/>
            <a:ext cx="47247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시간적 관점의 본질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57707" y="2609698"/>
            <a:ext cx="47247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"시대적 배경과 역사적 흐름 속에서 사회 현상을 다각도로 추적하여 오늘날의 인과관계를 밝히는 힘" 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57707" y="3348533"/>
            <a:ext cx="4724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역사적 배경 분석: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사회 현상의 출발점과 변화 과정을 추적함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57707" y="3691433"/>
            <a:ext cx="55677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인과관계 규명: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과거의 사건, 사상, 제도가 현재 어떻게 작동하는지 규명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57707" y="4034333"/>
            <a:ext cx="51837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미래 방향 예측: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지속적인 흐름 분석을 통해 향후 변화 가능성 탐색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096305" y="1429207"/>
            <a:ext cx="5524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교사의 핵심 사례 및 질문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096305" y="1828800"/>
            <a:ext cx="5524805" cy="1380744"/>
          </a:xfrm>
          <a:prstGeom prst="roundRect">
            <a:avLst>
              <a:gd name="adj" fmla="val 7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95644" y="2256739"/>
            <a:ext cx="51252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01</a:t>
            </a:r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우리 동네(지역)의 과거와 현재 변화 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295644" y="2580437"/>
            <a:ext cx="51252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일제강점기 또는 근대 산업화 시기의 개발 계획이 오늘날 우리 도시의 원도심과 신도심의 성격을 어떻게 다르게 규정했는지 역사적 사료와 고지도를 통해 이해합니다.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96305" y="3361334"/>
            <a:ext cx="5524805" cy="1600200"/>
          </a:xfrm>
          <a:prstGeom prst="roundRect">
            <a:avLst>
              <a:gd name="adj" fmla="val 544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95644" y="3790188"/>
            <a:ext cx="51252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교과서 탐구 질문</a:t>
            </a:r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"과거와 현재의 대화" 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295644" y="4113886"/>
            <a:ext cx="57003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❓ 왜 현재 우리나라는 노년층 인구가 급증하는 초고령화 사회에 접어들었을까요? 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295644" y="4385462"/>
            <a:ext cx="51252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👉 1970~80년대 산아 제한 정책(인구 조절)과 2000년대 이후의 출산율 급감 흐름을 </a:t>
            </a:r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시간적 흐름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따라 다각도로 수집하여 원인을 파악합니다. 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71500" y="6467551"/>
            <a:ext cx="11049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03 / 08 | I. 인간, 사회, 환경과 행복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1500" y="381305"/>
            <a:ext cx="11049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75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SPATIAL PERSPECTIVE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647395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65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공간적 관점 : 위치와 네트워크로 연결된 지리적 안목</a:t>
            </a:r>
            <a:endParaRPr lang="en-US" sz="2400" dirty="0"/>
          </a:p>
        </p:txBody>
      </p:sp>
      <p:pic>
        <p:nvPicPr>
          <p:cNvPr id="6" name="Image 0" descr="gen-dedup-7d64a19789192303f37b4056f48ef811.png">    </p:cNvPr>
          <p:cNvPicPr>
            <a:picLocks noChangeAspect="1"/>
          </p:cNvPicPr>
          <p:nvPr/>
        </p:nvPicPr>
        <p:blipFill>
          <a:blip r:embed="rId1"/>
          <a:srcRect l="0" r="0" t="-5" b="-5"/>
          <a:stretch/>
        </p:blipFill>
        <p:spPr>
          <a:xfrm>
            <a:off x="571500" y="1429207"/>
            <a:ext cx="5238598" cy="43818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57707" y="1657807"/>
            <a:ext cx="47247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나침반(Compass)의 도구적 관점 🧭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57707" y="2104949"/>
            <a:ext cx="47247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65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공간적 관점의 본질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57707" y="2609698"/>
            <a:ext cx="47247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"장소와 위치, 지리적 분포 양상, 공간 네트워크 맥락에서 환경과 인간 활동 간의 유기적 관계를 분석하는 힘" 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57707" y="3348533"/>
            <a:ext cx="47247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위치와 장소 파악: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어디에 있고, 그 장소가 어떤 고유한 지리적 성격을 띠는지 탐구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57707" y="3920033"/>
            <a:ext cx="55677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이동과 네트워크: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사람, 물자, 정보의 지리적 이동과 상호의존 관계 추적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57707" y="4262933"/>
            <a:ext cx="47247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생태적 유기적 상호관계: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기후, 지형 등 자연 환경이 인간의 생활 양식에 미치는 영향 이해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096305" y="1429207"/>
            <a:ext cx="5524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교사의 핵심 사례 및 질문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096305" y="1828800"/>
            <a:ext cx="5524805" cy="1380744"/>
          </a:xfrm>
          <a:prstGeom prst="roundRect">
            <a:avLst>
              <a:gd name="adj" fmla="val 7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95644" y="2256739"/>
            <a:ext cx="51252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02</a:t>
            </a:r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환경에 따라 달라지는 의식주 생활 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295644" y="2580437"/>
            <a:ext cx="51252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벼농사 지역인 동아시아와 밀농사 중심의 유럽 지역이 형성한 지형적 분포, 주거 가옥 형태의 지리적 차이, 그리고 이에 따라 구축된 식문화적 장소성을 학습지도에 녹여냅니다.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96305" y="3361334"/>
            <a:ext cx="5524805" cy="1819656"/>
          </a:xfrm>
          <a:prstGeom prst="roundRect">
            <a:avLst>
              <a:gd name="adj" fmla="val 42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95644" y="3790188"/>
            <a:ext cx="51252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교과서 탐구 질문</a:t>
            </a:r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"공간적 관계의 도해" 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295644" y="4113886"/>
            <a:ext cx="51252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❓ 대형 마트와 복합 쇼핑몰은 왜 주로 교통이 편리한 대로변이나 환승역 근처에 입지할까요? 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295644" y="4599432"/>
            <a:ext cx="51252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👉 상업 시설 입지의 지리적 유리성, 인근 도시 네트워크와의 연결성, 접근 인구의 유동 패턴 등 </a:t>
            </a:r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공간적 관계성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분석을 이끌어냅니다. 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71500" y="6467551"/>
            <a:ext cx="11049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04 / 08 | I. 인간, 사회, 환경과 행복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1500" y="381305"/>
            <a:ext cx="11049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75" kern="0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03. SOCIAL PERSPECTIVE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647395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 관점 : 제도와 정책을 파악하는 구조적 안목</a:t>
            </a:r>
            <a:endParaRPr lang="en-US" sz="2400" dirty="0"/>
          </a:p>
        </p:txBody>
      </p:sp>
      <p:pic>
        <p:nvPicPr>
          <p:cNvPr id="6" name="Image 0" descr="gen-dedup-d958b706e33864881368aa92c290fd59.png">    </p:cNvPr>
          <p:cNvPicPr>
            <a:picLocks noChangeAspect="1"/>
          </p:cNvPicPr>
          <p:nvPr/>
        </p:nvPicPr>
        <p:blipFill>
          <a:blip r:embed="rId1"/>
          <a:srcRect l="0" r="0" t="-5" b="-5"/>
          <a:stretch/>
        </p:blipFill>
        <p:spPr>
          <a:xfrm>
            <a:off x="571500" y="1429207"/>
            <a:ext cx="5238598" cy="43818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57707" y="1657807"/>
            <a:ext cx="47247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천칭(Balance)의 도구적 관점 ⚖️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57707" y="2104949"/>
            <a:ext cx="47247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 관점의 본질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57707" y="2609698"/>
            <a:ext cx="47247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"개인의 일탈이나 의지의 한계가 아닌, 사회 현상이 나타난 배경을 사회의 구조적 · 제도적 · 정책적 틀에서 규명하는 힘" 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57707" y="3348533"/>
            <a:ext cx="47247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 구조와 제도 분석: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개인을 넘어서는 법률, 규범, 사회 제도 등의 영향력 파악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57707" y="3920033"/>
            <a:ext cx="47247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 불평등 및 해결: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권력 구조나 자원 분배 정책에 내재된 문제 파악 및 대책 마련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57707" y="4491533"/>
            <a:ext cx="47247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가이드 제약성: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사회의 다양한 가치관과 이해관계가 정책에 수렴되는 과정 탐색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096305" y="1429207"/>
            <a:ext cx="5524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교사의 핵심 사례 및 질문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096305" y="1828800"/>
            <a:ext cx="5524805" cy="1600200"/>
          </a:xfrm>
          <a:prstGeom prst="roundRect">
            <a:avLst>
              <a:gd name="adj" fmla="val 544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95644" y="2256739"/>
            <a:ext cx="51252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03</a:t>
            </a:r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노동법과 최저임금 제도 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295644" y="2580437"/>
            <a:ext cx="512521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근로자의 최저 생활 수준 보장을 위한 주 52시간 근무 및 근로기준법 개정 과정을 추적하며, 법치 사회에서 국가가 사회적 분배의 조율사 역할을 수행하는 제도적 기반을 가르칩니다.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96305" y="3576218"/>
            <a:ext cx="5524805" cy="1819656"/>
          </a:xfrm>
          <a:prstGeom prst="roundRect">
            <a:avLst>
              <a:gd name="adj" fmla="val 42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95644" y="4004158"/>
            <a:ext cx="51252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교과서 탐구 질문</a:t>
            </a:r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"사회 구조적 규명" 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295644" y="4327855"/>
            <a:ext cx="51252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❓ 왜 1인 가구가 점점 더 편리하게 거주할 수 있는 전세/월세 원룸과 청년 주택이 개발될까요? 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295644" y="4813402"/>
            <a:ext cx="51252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👉 청년 인구 대책, 1인 맞춤형 부동산 소득세 면제, 공공임대 주택 특별공급 정책 등 국가적 차원의 </a:t>
            </a:r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제도와 정책적 지원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입체적으로 고찰하게 합니다. 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71500" y="6467551"/>
            <a:ext cx="11049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05 / 08 | I. 인간, 사회, 환경과 행복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1500" y="381305"/>
            <a:ext cx="11049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75" kern="0" dirty="0">
                <a:solidFill>
                  <a:srgbClr val="EC4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04. ETHICAL PERSPECTIVE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647395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D17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윤리적 관점 : 도덕적 규범과 가치를 추구하는 철학적 안목</a:t>
            </a:r>
            <a:endParaRPr lang="en-US" sz="2400" dirty="0"/>
          </a:p>
        </p:txBody>
      </p:sp>
      <p:pic>
        <p:nvPicPr>
          <p:cNvPr id="6" name="Image 0" descr="gen-dedup-d2e2d6acd21a3941f335dd6239a6d53c.png">    </p:cNvPr>
          <p:cNvPicPr>
            <a:picLocks noChangeAspect="1"/>
          </p:cNvPicPr>
          <p:nvPr/>
        </p:nvPicPr>
        <p:blipFill>
          <a:blip r:embed="rId1"/>
          <a:srcRect l="0" r="0" t="-5" b="-5"/>
          <a:stretch/>
        </p:blipFill>
        <p:spPr>
          <a:xfrm>
            <a:off x="571500" y="1429207"/>
            <a:ext cx="5238598" cy="43818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57707" y="1657807"/>
            <a:ext cx="47247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B2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이정표(Signpost)의 도구적 관점 📍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57707" y="2104949"/>
            <a:ext cx="47247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9D17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윤리적 관점의 본질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57707" y="2609698"/>
            <a:ext cx="47247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"사실 관계의 팩트를 넘어, 우리 사회가 나아가야 할 정당하고 도덕적으로 바람직한 '가치와 당위'를 평가하는 힘" 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57707" y="3348533"/>
            <a:ext cx="47247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도덕규범과 가치 평가: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보편적 가치인 '인간 존엄성', '자유', '정의'를 기준으로 현상 고찰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57707" y="3920033"/>
            <a:ext cx="47247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바람직한 사회상 제시: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'어떠해야 마땅한가'라는 당위적인 기준을 통해 개인의 행위와 제도를 감시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57707" y="4491533"/>
            <a:ext cx="47247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C48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내면적 가치 판단: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물질 만능주의나 과학기술 만능주의 등 수단 중심 사고를 제어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096305" y="1429207"/>
            <a:ext cx="552480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교사의 핵심 사례 및 질문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096305" y="1828800"/>
            <a:ext cx="5524805" cy="1600200"/>
          </a:xfrm>
          <a:prstGeom prst="roundRect">
            <a:avLst>
              <a:gd name="adj" fmla="val 544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95644" y="2256739"/>
            <a:ext cx="51252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CASE 04</a:t>
            </a:r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안락사 혹은 자율주행 차량의 윤리적 딜레마 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295644" y="2580437"/>
            <a:ext cx="512521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 소프트웨어가 사고 상황에서 누구를 구해야 하는지에 대한 윤리적 알고리즘 기준 및 생명 의료 가치 판단 기준을 수립하며, 이를 통해 인간으로서 가치와 존엄성에 눈뜨도록 돕습니다.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96305" y="3576218"/>
            <a:ext cx="5524805" cy="1819656"/>
          </a:xfrm>
          <a:prstGeom prst="roundRect">
            <a:avLst>
              <a:gd name="adj" fmla="val 42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95644" y="4004158"/>
            <a:ext cx="51252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교과서 탐구 질문</a:t>
            </a:r>
            <a:pPr algn="l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"도덕적 당위의 고찰" 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295644" y="4327855"/>
            <a:ext cx="512521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❓ 저출산·고령화 문제 극복을 위해 국가가 아동 보육 수당을 조건 없이 지급하는 것은 도덕적으로 정당할까요? 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6295644" y="4813402"/>
            <a:ext cx="51252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👉 세대의 공동체적 분담 의무, 약자 보호 및 다음 세대에 대한 연대 의무 등 </a:t>
            </a:r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윤리적 가치 가이드라인</a:t>
            </a:r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바탕으로 평가를 유도합니다. 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71500" y="6467551"/>
            <a:ext cx="11049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06 / 08 | I. 인간, 사회, 환경과 행복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1500" y="381305"/>
            <a:ext cx="11049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75" kern="0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 INTEGRATED PERSPECTIVE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647395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통합적 관점의 필요성 : 입체적 종합 해결책 설계하기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71500" y="1429207"/>
            <a:ext cx="4190695" cy="4381805"/>
          </a:xfrm>
          <a:prstGeom prst="roundRect">
            <a:avLst>
              <a:gd name="adj" fmla="val 79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0100" y="2248510"/>
            <a:ext cx="3733495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0100" y="1867205"/>
            <a:ext cx="3734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관점의 맹점 🚨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0100" y="2381098"/>
            <a:ext cx="37344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현대 사회의 고령화, 저출산, 기후위기, 글로벌 도시 불평등 등 복합적 문제들은 어느 </a:t>
            </a:r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눈(관점)</a:t>
            </a:r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만으로는 완전히 파악하거나 해결할 수 없습니다. 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0100" y="3265322"/>
            <a:ext cx="3733495" cy="1104595"/>
          </a:xfrm>
          <a:prstGeom prst="roundRect">
            <a:avLst>
              <a:gd name="adj" fmla="val 8564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800100" y="3265322"/>
            <a:ext cx="38405" cy="1104595"/>
          </a:xfrm>
          <a:prstGeom prst="roundRect">
            <a:avLst>
              <a:gd name="adj" fmla="val 246304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90295" y="3417113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편향적 해결의 위험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90295" y="3655771"/>
            <a:ext cx="339151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제도적 지원(사회적)에만 몰두하고 시민의 도덕의식 함양(윤리적)이나 역사적 연속성(시간적)을 고려하지 않는 일방적 정책은 반드시 맹점이 발생합니다.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048402" y="1429207"/>
            <a:ext cx="657270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융합 사례 분석 : [기후 위기]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48402" y="1790395"/>
            <a:ext cx="3219602" cy="1171346"/>
          </a:xfrm>
          <a:prstGeom prst="roundRect">
            <a:avLst>
              <a:gd name="adj" fmla="val 761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10251" y="1952244"/>
            <a:ext cx="28959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🕰️ 시간적 관점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210251" y="2180844"/>
            <a:ext cx="2895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산업혁명 이후 탄소 배출 누적 추이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210251" y="2419502"/>
            <a:ext cx="28959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18세기 서구 열강의 화석연료 연소 역사와 오늘날까지 이어진 탄소 누적 변화 분석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01507" y="1790395"/>
            <a:ext cx="3219602" cy="1171346"/>
          </a:xfrm>
          <a:prstGeom prst="roundRect">
            <a:avLst>
              <a:gd name="adj" fmla="val 761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63356" y="1952244"/>
            <a:ext cx="28959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공간적 관점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563356" y="2180844"/>
            <a:ext cx="2895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해수면 상승 및 기후 취약 지역 분포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563356" y="2419502"/>
            <a:ext cx="28959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해수면 상승으로 직접 피해를 입고 있는 저지대 섬나라(투발루 등)의 장소성과 공간 네트워크 분석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48402" y="3087929"/>
            <a:ext cx="3219602" cy="1171346"/>
          </a:xfrm>
          <a:prstGeom prst="roundRect">
            <a:avLst>
              <a:gd name="adj" fmla="val 761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10251" y="3249778"/>
            <a:ext cx="28959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사회적 관점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210251" y="3478378"/>
            <a:ext cx="2895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탄소세 배출권 거래제 및 국제 협약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210251" y="3716122"/>
            <a:ext cx="28959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기후위기에 대처하기 위한 파리기후협정 등 정부 차원의 법적 제재 수단과 정책 조율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401507" y="3087929"/>
            <a:ext cx="3219602" cy="1171346"/>
          </a:xfrm>
          <a:prstGeom prst="roundRect">
            <a:avLst>
              <a:gd name="adj" fmla="val 7616"/>
            </a:avLst>
          </a:prstGeom>
          <a:solidFill>
            <a:srgbClr val="FDF2F8"/>
          </a:solidFill>
          <a:ln w="12700">
            <a:solidFill>
              <a:srgbClr val="FBCF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563356" y="3249778"/>
            <a:ext cx="28959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B2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📍 윤리적 관점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563356" y="3478378"/>
            <a:ext cx="28959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기후 정의 및 비인간 생명체 공존론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563356" y="3716122"/>
            <a:ext cx="28959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탄소 배출 책임이 적은 저개발국이 가장 큰 피해를 입는 '기후 불평등' 문제와 자연 가치 평가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48402" y="4385462"/>
            <a:ext cx="6572707" cy="685800"/>
          </a:xfrm>
          <a:prstGeom prst="roundRect">
            <a:avLst>
              <a:gd name="adj" fmla="val 22222"/>
            </a:avLst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162702" y="4499762"/>
            <a:ext cx="6344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🌟 결론: 시간·공간·사회·윤리를 모두 아우르는 [통합적 관점]만이 현실적인 처방을 내릴 수 있습니다! 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71500" y="6467551"/>
            <a:ext cx="11049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07 / 08 | I. 인간, 사회, 환경과 행복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1500" y="381305"/>
            <a:ext cx="11049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75" kern="0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06. SUMMARY &amp; ASSIGNMENT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647395"/>
            <a:ext cx="11049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배움 요약 및 수행 탐구 활동 안내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71500" y="1429207"/>
            <a:ext cx="5238598" cy="4381805"/>
          </a:xfrm>
          <a:prstGeom prst="roundRect">
            <a:avLst>
              <a:gd name="adj" fmla="val 7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9244" y="2257654"/>
            <a:ext cx="4762195" cy="192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9244" y="1876349"/>
            <a:ext cx="476311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핵심 요약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9244" y="2428646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4대 관점의 조화 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61949" y="2695651"/>
            <a:ext cx="46104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역사적 맥락(시간적), 지리적 환경(공간적), 제도적 체계(사회적), 당위적 가치(윤리적)는 분리될 수 없습니다.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09244" y="3247949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통합적 관점의 의미 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61949" y="3514954"/>
            <a:ext cx="4610405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측면을 종합적으로 고려하여 삶의 질을 높이고 우리 공동체의 더 바람직한 발전을 설계하는 최고의 방법입니다.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9244" y="4143146"/>
            <a:ext cx="4762195" cy="923544"/>
          </a:xfrm>
          <a:prstGeom prst="roundRect">
            <a:avLst>
              <a:gd name="adj" fmla="val 12249"/>
            </a:avLst>
          </a:prstGeom>
          <a:solidFill>
            <a:srgbClr val="EFF6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09244" y="4143146"/>
            <a:ext cx="38405" cy="923544"/>
          </a:xfrm>
          <a:prstGeom prst="roundRect">
            <a:avLst>
              <a:gd name="adj" fmla="val 294549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00354" y="4295851"/>
            <a:ext cx="4420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최종 총평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00354" y="4533595"/>
            <a:ext cx="44202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 사실관계의 검증(Science)과 보편적 규범 가치(Ethics)를 융합하는 태도가 미래 민주 시민이 가질 안목입니다.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96305" y="1429207"/>
            <a:ext cx="5524805" cy="4381805"/>
          </a:xfrm>
          <a:prstGeom prst="roundRect">
            <a:avLst>
              <a:gd name="adj" fmla="val 726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34049" y="2009851"/>
            <a:ext cx="50484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성찰 및 수행과제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334049" y="2457907"/>
            <a:ext cx="5048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📌 [활동 과제] 우리 삶의 현안 분석하기 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34049" y="2762402"/>
            <a:ext cx="504840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우리 사회의 또 다른 고난이도 복합 문제인 </a:t>
            </a:r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'초고령화 현상'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또는 </a:t>
            </a:r>
            <a:pPr algn="l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'인공지능(AI)과 일자리 변화'</a:t>
            </a:r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 한 가지를 골라 네 가지 관점(시간, 공간, 사회, 윤리)을 모두 활용해 종합 보고서 1장을 작성해 제출하세요. 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34049" y="3557930"/>
            <a:ext cx="5048402" cy="1000354"/>
          </a:xfrm>
          <a:prstGeom prst="roundRect">
            <a:avLst>
              <a:gd name="adj" fmla="val 10447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58407" y="3681374"/>
            <a:ext cx="48006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작성 채점 기준 안내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458407" y="3909974"/>
            <a:ext cx="480060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• 네 가지 관점을 모두 충실히 기술했는가? (40%)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• 관점들을 유기적으로 엮어 하나의 종합 대안을 도출했는가? (40%)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• 최소 글자 크기 기준을 준수하고 내용이 명확한가? (20%) 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34049" y="5257800"/>
            <a:ext cx="5048402" cy="9144"/>
          </a:xfrm>
          <a:prstGeom prst="rect">
            <a:avLst/>
          </a:prstGeom>
          <a:solidFill>
            <a:srgbClr val="FDE68A"/>
          </a:solidFill>
          <a:ln w="12700">
            <a:solidFill>
              <a:srgbClr val="FDE68A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34049" y="5381244"/>
            <a:ext cx="2362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기한: 다음 주 수업 시간까지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877349" y="5381244"/>
            <a:ext cx="18580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통합사회 수행평가 반영 📝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34049" y="1676095"/>
            <a:ext cx="905256" cy="237744"/>
          </a:xfrm>
          <a:prstGeom prst="roundRect">
            <a:avLst>
              <a:gd name="adj" fmla="val 123077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34049" y="1676095"/>
            <a:ext cx="9052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CTIVE TASK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71500" y="6467551"/>
            <a:ext cx="11049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PAGE 08 / 08 | I. 인간, 사회, 환경과 행복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2026-05-27T10:27:37Z</dcterms:created>
  <dcterms:modified xsi:type="dcterms:W3CDTF">2026-05-27T10:27:37Z</dcterms:modified>
</cp:coreProperties>
</file>